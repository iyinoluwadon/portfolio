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E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92440" y="0"/>
            <a:ext cx="4114800" cy="6858000"/>
          </a:xfrm>
          <a:prstGeom prst="rect">
            <a:avLst/>
          </a:prstGeom>
          <a:solidFill>
            <a:srgbClr val="25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321040" y="1325880"/>
            <a:ext cx="4389120" cy="4389120"/>
          </a:xfrm>
          <a:prstGeom prst="ellipse">
            <a:avLst/>
          </a:prstGeom>
          <a:noFill/>
          <a:ln w="12700">
            <a:solidFill>
              <a:srgbClr val="4141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15400" y="1920239"/>
            <a:ext cx="3200400" cy="3200400"/>
          </a:xfrm>
          <a:prstGeom prst="ellipse">
            <a:avLst/>
          </a:prstGeom>
          <a:noFill/>
          <a:ln w="12700">
            <a:solidFill>
              <a:srgbClr val="626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09759" y="2514600"/>
            <a:ext cx="2011680" cy="2011680"/>
          </a:xfrm>
          <a:prstGeom prst="ellipse">
            <a:avLst/>
          </a:prstGeom>
          <a:noFill/>
          <a:ln w="19050">
            <a:solidFill>
              <a:srgbClr val="C9E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30968" y="3337560"/>
            <a:ext cx="109728" cy="1005840"/>
          </a:xfrm>
          <a:prstGeom prst="rect">
            <a:avLst/>
          </a:prstGeom>
          <a:solidFill>
            <a:srgbClr val="5A4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41280" y="2843784"/>
            <a:ext cx="109728" cy="1499616"/>
          </a:xfrm>
          <a:prstGeom prst="rect">
            <a:avLst/>
          </a:prstGeom>
          <a:solidFill>
            <a:srgbClr val="C9E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451592" y="3602736"/>
            <a:ext cx="109728" cy="740664"/>
          </a:xfrm>
          <a:prstGeom prst="rect">
            <a:avLst/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5943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9EF68"/>
                </a:solidFill>
                <a:latin typeface="Aptos"/>
              </a:rPr>
              <a:t>SELECTED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7040880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5F3ED"/>
                </a:solidFill>
                <a:latin typeface="Aptos Display"/>
              </a:rPr>
              <a:t>Iyinoluwa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5F3ED"/>
                </a:solidFill>
                <a:latin typeface="Aptos Display"/>
              </a:rPr>
              <a:t>Don-Taiwo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31920"/>
            <a:ext cx="62179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D5D5DA"/>
                </a:solidFill>
                <a:latin typeface="Aptos"/>
              </a:rPr>
              <a:t>Machine learning engineer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D5D5DA"/>
                </a:solidFill>
                <a:latin typeface="Aptos"/>
              </a:rPr>
              <a:t>and data scientist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5010912"/>
            <a:ext cx="5605272" cy="0"/>
          </a:xfrm>
          <a:prstGeom prst="line">
            <a:avLst/>
          </a:prstGeom>
          <a:ln w="12700">
            <a:solidFill>
              <a:srgbClr val="5051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5257800"/>
            <a:ext cx="6217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D5D5DA"/>
                </a:solidFill>
                <a:latin typeface="Aptos"/>
              </a:rPr>
              <a:t>Projects with their data, results and limits.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053328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9BAC1"/>
                </a:solidFill>
                <a:latin typeface="Aptos"/>
              </a:rPr>
              <a:t>PROJECT DECK   /  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035040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D5D5DA"/>
                </a:solidFill>
                <a:latin typeface="Aptos"/>
              </a:rPr>
              <a:t>MACHINE LEARNING     DATA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9768"/>
            <a:ext cx="62179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48EF"/>
                </a:solidFill>
                <a:latin typeface="Aptos"/>
              </a:rPr>
              <a:t>02   COMPUTER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8813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D1E2A"/>
                </a:solidFill>
                <a:latin typeface="Aptos Display"/>
              </a:rPr>
              <a:t>Classifying an ACL tear from a full MRI volume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" y="2148840"/>
            <a:ext cx="10991088" cy="0"/>
          </a:xfrm>
          <a:prstGeom prst="line">
            <a:avLst/>
          </a:prstGeom>
          <a:ln w="10160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21792" y="2468880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41424A"/>
                </a:solidFill>
                <a:latin typeface="Aptos"/>
              </a:rPr>
              <a:t>A ResNet18 transfer-learning model reads sagittal knee MRI slices. The Streamlit demo accepts NumPy volumes, with optional DICOM and NIfTI readers.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840480"/>
            <a:ext cx="374903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5A48EF"/>
                </a:solidFill>
                <a:latin typeface="Aptos Display"/>
              </a:rPr>
              <a:t>0.9719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90288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96A72"/>
                </a:solidFill>
                <a:latin typeface="Aptos"/>
              </a:rPr>
              <a:t>reported AUC-ROC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9834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D1E2A"/>
                </a:solidFill>
                <a:latin typeface="Aptos"/>
              </a:rPr>
              <a:t>120-exam validation set   /   Stanford MRNet: 1,370 exams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2487168"/>
            <a:ext cx="5074920" cy="3401568"/>
          </a:xfrm>
          <a:prstGeom prst="rect">
            <a:avLst/>
          </a:prstGeom>
          <a:solidFill>
            <a:srgbClr val="24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272491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CFD0D7"/>
                </a:solidFill>
                <a:latin typeface="Aptos"/>
              </a:rPr>
              <a:t>SAGITTAL MRI SLICES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3720" y="3264408"/>
            <a:ext cx="868680" cy="1929384"/>
          </a:xfrm>
          <a:prstGeom prst="rect">
            <a:avLst/>
          </a:prstGeom>
          <a:solidFill>
            <a:srgbClr val="41434D"/>
          </a:solidFill>
          <a:ln w="10160">
            <a:solidFill>
              <a:srgbClr val="7779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068312" y="3630168"/>
            <a:ext cx="530352" cy="1225296"/>
          </a:xfrm>
          <a:prstGeom prst="ellipse">
            <a:avLst/>
          </a:prstGeom>
          <a:solidFill>
            <a:srgbClr val="969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87183" y="3886200"/>
            <a:ext cx="246888" cy="658368"/>
          </a:xfrm>
          <a:prstGeom prst="ellipse">
            <a:avLst/>
          </a:prstGeom>
          <a:solidFill>
            <a:srgbClr val="4B4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3154680"/>
            <a:ext cx="868680" cy="2148840"/>
          </a:xfrm>
          <a:prstGeom prst="rect">
            <a:avLst/>
          </a:prstGeom>
          <a:solidFill>
            <a:srgbClr val="575963"/>
          </a:solidFill>
          <a:ln w="10160">
            <a:solidFill>
              <a:srgbClr val="7779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56448" y="3520440"/>
            <a:ext cx="530352" cy="1371600"/>
          </a:xfrm>
          <a:prstGeom prst="ellipse">
            <a:avLst/>
          </a:prstGeom>
          <a:solidFill>
            <a:srgbClr val="C2BD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75320" y="3886200"/>
            <a:ext cx="246888" cy="658368"/>
          </a:xfrm>
          <a:prstGeom prst="ellipse">
            <a:avLst/>
          </a:prstGeom>
          <a:solidFill>
            <a:srgbClr val="4B4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79992" y="3264408"/>
            <a:ext cx="868680" cy="1929384"/>
          </a:xfrm>
          <a:prstGeom prst="rect">
            <a:avLst/>
          </a:prstGeom>
          <a:solidFill>
            <a:srgbClr val="373942"/>
          </a:solidFill>
          <a:ln w="10160">
            <a:solidFill>
              <a:srgbClr val="7779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44584" y="3630168"/>
            <a:ext cx="530352" cy="1225296"/>
          </a:xfrm>
          <a:prstGeom prst="ellipse">
            <a:avLst/>
          </a:prstGeom>
          <a:solidFill>
            <a:srgbClr val="8583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63456" y="3886200"/>
            <a:ext cx="246888" cy="658368"/>
          </a:xfrm>
          <a:prstGeom prst="ellipse">
            <a:avLst/>
          </a:prstGeom>
          <a:solidFill>
            <a:srgbClr val="4B4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555480" y="3886200"/>
            <a:ext cx="1508760" cy="566928"/>
          </a:xfrm>
          <a:prstGeom prst="rect">
            <a:avLst/>
          </a:prstGeom>
          <a:solidFill>
            <a:srgbClr val="5A4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56648" y="406908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EFA"/>
                </a:solidFill>
                <a:latin typeface="Aptos"/>
              </a:rPr>
              <a:t>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6007608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96A72"/>
                </a:solidFill>
                <a:latin typeface="Aptos"/>
              </a:rPr>
              <a:t>Schematic only. Research prototype, not a diagnostic tool. The reported result has not been independently reproduced here.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6446520"/>
            <a:ext cx="11064240" cy="0"/>
          </a:xfrm>
          <a:prstGeom prst="line">
            <a:avLst/>
          </a:prstGeom>
          <a:ln w="8255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85216" y="6510528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Iyinoluwa Don-Taiwo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35640" y="6510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9768"/>
            <a:ext cx="62179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48EF"/>
                </a:solidFill>
                <a:latin typeface="Aptos"/>
              </a:rPr>
              <a:t>03   MULTIMODAL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8813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D1E2A"/>
                </a:solidFill>
                <a:latin typeface="Aptos Display"/>
              </a:rPr>
              <a:t>Does the product photo match its description?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" y="2148840"/>
            <a:ext cx="10991088" cy="0"/>
          </a:xfrm>
          <a:prstGeom prst="line">
            <a:avLst/>
          </a:prstGeom>
          <a:ln w="10160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21792" y="2468880"/>
            <a:ext cx="52120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1424A"/>
                </a:solidFill>
                <a:latin typeface="Aptos"/>
              </a:rPr>
              <a:t>I used downloaded Rakuten France listings to compare text-only, image-only and fused models. The task pairs real listings with deliberately swapped images to create mismatch examples.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977639"/>
            <a:ext cx="24688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5A48EF"/>
                </a:solidFill>
                <a:latin typeface="Aptos Display"/>
              </a:rPr>
              <a:t>20,000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1772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96A72"/>
                </a:solidFill>
                <a:latin typeface="Aptos"/>
              </a:rPr>
              <a:t>product listings in the subset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5848" y="3977639"/>
            <a:ext cx="19202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D1E2A"/>
                </a:solidFill>
                <a:latin typeface="Aptos Display"/>
              </a:rPr>
              <a:t>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2424" y="4617720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96A72"/>
                </a:solidFill>
                <a:latin typeface="Aptos"/>
              </a:rPr>
              <a:t>images swapped for proxy labels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9088" y="2468880"/>
            <a:ext cx="5084064" cy="3456432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48272" y="2788920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96A72"/>
                </a:solidFill>
                <a:latin typeface="Aptos"/>
              </a:rPr>
              <a:t>F1 SCORE  /  HIGHER IS BETTER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3337560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D1E2A"/>
                </a:solidFill>
                <a:latin typeface="Aptos"/>
              </a:rPr>
              <a:t>Text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09560" y="3355848"/>
            <a:ext cx="2423160" cy="219456"/>
          </a:xfrm>
          <a:prstGeom prst="rect">
            <a:avLst/>
          </a:prstGeom>
          <a:solidFill>
            <a:srgbClr val="D9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09560" y="3355848"/>
            <a:ext cx="1038497" cy="219456"/>
          </a:xfrm>
          <a:prstGeom prst="rect">
            <a:avLst/>
          </a:prstGeom>
          <a:solidFill>
            <a:srgbClr val="ACAA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52176" y="3319272"/>
            <a:ext cx="50292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1E2A"/>
                </a:solidFill>
                <a:latin typeface="Aptos"/>
              </a:rPr>
              <a:t>0.30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48272" y="404164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D1E2A"/>
                </a:solidFill>
                <a:latin typeface="Aptos"/>
              </a:rPr>
              <a:t>Image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60" y="4059935"/>
            <a:ext cx="2423160" cy="219456"/>
          </a:xfrm>
          <a:prstGeom prst="rect">
            <a:avLst/>
          </a:prstGeom>
          <a:solidFill>
            <a:srgbClr val="D9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09560" y="4059935"/>
            <a:ext cx="865414" cy="219456"/>
          </a:xfrm>
          <a:prstGeom prst="rect">
            <a:avLst/>
          </a:prstGeom>
          <a:solidFill>
            <a:srgbClr val="868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52176" y="4023360"/>
            <a:ext cx="50292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1E2A"/>
                </a:solidFill>
                <a:latin typeface="Aptos"/>
              </a:rPr>
              <a:t>0.25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272" y="474573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1E2A"/>
                </a:solidFill>
                <a:latin typeface="Aptos"/>
              </a:rPr>
              <a:t>Fused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4764023"/>
            <a:ext cx="2423160" cy="219456"/>
          </a:xfrm>
          <a:prstGeom prst="rect">
            <a:avLst/>
          </a:prstGeom>
          <a:solidFill>
            <a:srgbClr val="D9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4764023"/>
            <a:ext cx="2180844" cy="219456"/>
          </a:xfrm>
          <a:prstGeom prst="rect">
            <a:avLst/>
          </a:prstGeom>
          <a:solidFill>
            <a:srgbClr val="5A4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52176" y="4727448"/>
            <a:ext cx="50292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1E2A"/>
                </a:solidFill>
                <a:latin typeface="Aptos"/>
              </a:rPr>
              <a:t>0.63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6007608"/>
            <a:ext cx="10561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96A72"/>
                </a:solidFill>
                <a:latin typeface="Aptos"/>
              </a:rPr>
              <a:t>The mismatch label is a proxy signal, not a general moderation or policy decision.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8" y="6446520"/>
            <a:ext cx="11064240" cy="0"/>
          </a:xfrm>
          <a:prstGeom prst="line">
            <a:avLst/>
          </a:prstGeom>
          <a:ln w="8255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85216" y="6510528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Iyinoluwa Don-Taiwo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35640" y="6510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44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9768"/>
            <a:ext cx="62179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EF68"/>
                </a:solidFill>
                <a:latin typeface="Aptos"/>
              </a:rPr>
              <a:t>04   GEOSPATIAL DATA SCIENCE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8813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F3ED"/>
                </a:solidFill>
                <a:latin typeface="Aptos Display"/>
              </a:rPr>
              <a:t>Seasonal inputs lowered forecast error on the holdout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" y="2148840"/>
            <a:ext cx="10991088" cy="0"/>
          </a:xfrm>
          <a:prstGeom prst="line">
            <a:avLst/>
          </a:prstGeom>
          <a:ln w="10160">
            <a:solidFill>
              <a:srgbClr val="4748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21792" y="2487168"/>
            <a:ext cx="48920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3ED"/>
                </a:solidFill>
                <a:latin typeface="Aptos"/>
              </a:rPr>
              <a:t>The research notebook uses Sentinel-2 NDVI features for Omo Forest Reserve and compares an LSTM with seasonal features against an NDVI-only baseline.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968496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9EF68"/>
                </a:solidFill>
                <a:latin typeface="Aptos"/>
              </a:rPr>
              <a:t>MODEL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315968"/>
            <a:ext cx="4800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7D8D8"/>
                </a:solidFill>
                <a:latin typeface="Aptos"/>
              </a:rPr>
              <a:t>The hosted dashboard uses illustrative values. The notebook contains the model and reported evaluation.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2523744"/>
            <a:ext cx="5440680" cy="3090672"/>
          </a:xfrm>
          <a:prstGeom prst="rect">
            <a:avLst/>
          </a:prstGeom>
          <a:solidFill>
            <a:srgbClr val="F5F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2798064"/>
            <a:ext cx="4480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96A72"/>
                </a:solidFill>
                <a:latin typeface="Aptos"/>
              </a:rPr>
              <a:t>ERROR COMPARISON  /  LOWER IS 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32644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1E2A"/>
                </a:solidFill>
                <a:latin typeface="Aptos"/>
              </a:rPr>
              <a:t>MAE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26440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96A72"/>
                </a:solidFill>
                <a:latin typeface="Aptos"/>
              </a:rPr>
              <a:t>NDVI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3310128"/>
            <a:ext cx="2084831" cy="182880"/>
          </a:xfrm>
          <a:prstGeom prst="rect">
            <a:avLst/>
          </a:prstGeom>
          <a:solidFill>
            <a:srgbClr val="DE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75320" y="3310128"/>
            <a:ext cx="1521927" cy="182880"/>
          </a:xfrm>
          <a:prstGeom prst="rect">
            <a:avLst/>
          </a:prstGeom>
          <a:solidFill>
            <a:srgbClr val="9B9A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7312" y="3246120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0.073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70332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1E2A"/>
                </a:solidFill>
                <a:latin typeface="Aptos"/>
              </a:rPr>
              <a:t>Seasonal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3749039"/>
            <a:ext cx="2084831" cy="182880"/>
          </a:xfrm>
          <a:prstGeom prst="rect">
            <a:avLst/>
          </a:prstGeom>
          <a:solidFill>
            <a:srgbClr val="DE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20" y="3749039"/>
            <a:ext cx="1375989" cy="182880"/>
          </a:xfrm>
          <a:prstGeom prst="rect">
            <a:avLst/>
          </a:prstGeom>
          <a:solidFill>
            <a:srgbClr val="5A4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97312" y="3685032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0.066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434840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1E2A"/>
                </a:solidFill>
                <a:latin typeface="Aptos"/>
              </a:rPr>
              <a:t>RMSE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43484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96A72"/>
                </a:solidFill>
                <a:latin typeface="Aptos"/>
              </a:rPr>
              <a:t>NDVI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4480560"/>
            <a:ext cx="2084831" cy="182880"/>
          </a:xfrm>
          <a:prstGeom prst="rect">
            <a:avLst/>
          </a:prstGeom>
          <a:solidFill>
            <a:srgbClr val="DE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75320" y="4480560"/>
            <a:ext cx="1598371" cy="182880"/>
          </a:xfrm>
          <a:prstGeom prst="rect">
            <a:avLst/>
          </a:prstGeom>
          <a:solidFill>
            <a:srgbClr val="9B9A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4416552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0.092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86460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1E2A"/>
                </a:solidFill>
                <a:latin typeface="Aptos"/>
              </a:rPr>
              <a:t>Seasonal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4910328"/>
            <a:ext cx="2084831" cy="182880"/>
          </a:xfrm>
          <a:prstGeom prst="rect">
            <a:avLst/>
          </a:prstGeom>
          <a:solidFill>
            <a:srgbClr val="DED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20" y="4910328"/>
            <a:ext cx="1389887" cy="182880"/>
          </a:xfrm>
          <a:prstGeom prst="rect">
            <a:avLst/>
          </a:prstGeom>
          <a:solidFill>
            <a:srgbClr val="5A4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97312" y="4846320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0.080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6007608"/>
            <a:ext cx="10561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D7D8D8"/>
                </a:solidFill>
                <a:latin typeface="Aptos"/>
              </a:rPr>
              <a:t>Small holdout with interpolated months. NDVI change alone does not establish deforestation.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66928" y="6446520"/>
            <a:ext cx="11064240" cy="0"/>
          </a:xfrm>
          <a:prstGeom prst="line">
            <a:avLst/>
          </a:prstGeom>
          <a:ln w="8255">
            <a:solidFill>
              <a:srgbClr val="4748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85216" y="6510528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9BAC1"/>
                </a:solidFill>
                <a:latin typeface="Aptos"/>
              </a:rPr>
              <a:t>Iyinoluwa Don-Taiwo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35640" y="6510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9BAC1"/>
                </a:solidFill>
                <a:latin typeface="Aptos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9768"/>
            <a:ext cx="62179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48EF"/>
                </a:solidFill>
                <a:latin typeface="Aptos"/>
              </a:rPr>
              <a:t>05   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8813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D1E2A"/>
                </a:solidFill>
                <a:latin typeface="Aptos Display"/>
              </a:rPr>
              <a:t>Fine-tuning Gemma 2 for an African folktale challenge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" y="2148840"/>
            <a:ext cx="10991088" cy="0"/>
          </a:xfrm>
          <a:prstGeom prst="line">
            <a:avLst/>
          </a:prstGeom>
          <a:ln w="10160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21792" y="2468880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1424A"/>
                </a:solidFill>
                <a:latin typeface="Aptos"/>
              </a:rPr>
              <a:t>I led Team Ethopie, a nine-person group, through the TRI AI Saturdays Cohort 10 capstone. I co-developed the Gemma 2 2B LoRA notebook with one teammate.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88620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5A48EF"/>
                </a:solidFill>
                <a:latin typeface="Aptos Display"/>
              </a:rPr>
              <a:t>3rd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59943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96A72"/>
                </a:solidFill>
                <a:latin typeface="Aptos"/>
              </a:rPr>
              <a:t>place in the cohort capstone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05663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1E2A"/>
                </a:solidFill>
                <a:latin typeface="Aptos"/>
              </a:rPr>
              <a:t>24 synthetic folktales   /   38 prompt-story pairs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28232" y="2505456"/>
            <a:ext cx="5074920" cy="3364992"/>
          </a:xfrm>
          <a:prstGeom prst="rect">
            <a:avLst/>
          </a:prstGeom>
          <a:solidFill>
            <a:srgbClr val="EF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2834640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96A72"/>
                </a:solidFill>
                <a:latin typeface="Aptos"/>
              </a:rPr>
              <a:t>MEAN LEVENSHTEIN DISTANCE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8272" y="3474720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D1E2A"/>
                </a:solidFill>
                <a:latin typeface="Aptos"/>
              </a:rPr>
              <a:t>Baseline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91856" y="3493008"/>
            <a:ext cx="2331720" cy="228600"/>
          </a:xfrm>
          <a:prstGeom prst="rect">
            <a:avLst/>
          </a:prstGeom>
          <a:solidFill>
            <a:srgbClr val="C7BF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33888" y="34472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1E2A"/>
                </a:solidFill>
                <a:latin typeface="Aptos"/>
              </a:rPr>
              <a:t>211.00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4187952"/>
            <a:ext cx="1005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Fine-tuned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1856" y="4206240"/>
            <a:ext cx="2331720" cy="228600"/>
          </a:xfrm>
          <a:prstGeom prst="rect">
            <a:avLst/>
          </a:prstGeom>
          <a:solidFill>
            <a:srgbClr val="D7D0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1856" y="4206240"/>
            <a:ext cx="1891566" cy="228600"/>
          </a:xfrm>
          <a:prstGeom prst="rect">
            <a:avLst/>
          </a:prstGeom>
          <a:solidFill>
            <a:srgbClr val="5A4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3888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D1E2A"/>
                </a:solidFill>
                <a:latin typeface="Aptos"/>
              </a:rPr>
              <a:t>171.17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48272" y="4846320"/>
            <a:ext cx="4297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96A72"/>
                </a:solidFill>
                <a:latin typeface="Aptos"/>
              </a:rPr>
              <a:t>Lower is better on this challenge metric.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007608"/>
            <a:ext cx="10561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96A72"/>
                </a:solidFill>
                <a:latin typeface="Aptos"/>
              </a:rPr>
              <a:t>Synthetic benchmark. The score does not assess story quality or cultural fidelity.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6928" y="6446520"/>
            <a:ext cx="11064240" cy="0"/>
          </a:xfrm>
          <a:prstGeom prst="line">
            <a:avLst/>
          </a:prstGeom>
          <a:ln w="8255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85216" y="6510528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Iyinoluwa Don-Taiwo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35640" y="6510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E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9768"/>
            <a:ext cx="62179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48EF"/>
                </a:solidFill>
                <a:latin typeface="Aptos"/>
              </a:rPr>
              <a:t>06   GEOSPATIAL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8813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D1E2A"/>
                </a:solidFill>
                <a:latin typeface="Aptos Display"/>
              </a:rPr>
              <a:t>Mapping surface water with Sentinel-2 indices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" y="2148840"/>
            <a:ext cx="10991088" cy="0"/>
          </a:xfrm>
          <a:prstGeom prst="line">
            <a:avLst/>
          </a:prstGeom>
          <a:ln w="10160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21792" y="2487168"/>
            <a:ext cx="4983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1424A"/>
                </a:solidFill>
                <a:latin typeface="Aptos"/>
              </a:rPr>
              <a:t>The Python project derives two water indices from Sentinel-2 bands, then fits a decision tree against historical surface-water labels. Spatial blocks separate evaluation areas.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48EF"/>
                </a:solidFill>
                <a:latin typeface="Aptos"/>
              </a:rPr>
              <a:t>Included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370832"/>
            <a:ext cx="4297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1E2A"/>
                </a:solidFill>
                <a:latin typeface="Aptos"/>
              </a:rPr>
              <a:t>Threshold baselines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1E2A"/>
                </a:solidFill>
                <a:latin typeface="Aptos"/>
              </a:rPr>
              <a:t>Documented map classes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D1E2A"/>
                </a:solidFill>
                <a:latin typeface="Aptos"/>
              </a:rPr>
              <a:t>Optional Earth Engine export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514600"/>
            <a:ext cx="5376672" cy="3154680"/>
          </a:xfrm>
          <a:prstGeom prst="rect">
            <a:avLst/>
          </a:prstGeom>
          <a:solidFill>
            <a:srgbClr val="DCE8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2788920"/>
            <a:ext cx="4434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96A72"/>
                </a:solidFill>
                <a:latin typeface="Aptos"/>
              </a:rPr>
              <a:t>FROM SPECTRAL BANDS TO A WATER MAP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9088" y="3520440"/>
            <a:ext cx="1298448" cy="960120"/>
          </a:xfrm>
          <a:prstGeom prst="rect">
            <a:avLst/>
          </a:prstGeom>
          <a:solidFill>
            <a:srgbClr val="FFFEFA"/>
          </a:solidFill>
          <a:ln w="10160">
            <a:solidFill>
              <a:srgbClr val="BB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7" y="3703320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Sentinel-2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087368"/>
            <a:ext cx="1152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96A72"/>
                </a:solidFill>
                <a:latin typeface="Aptos"/>
              </a:rPr>
              <a:t>Green / NIR / SWIR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6448" y="3520440"/>
            <a:ext cx="1298448" cy="960120"/>
          </a:xfrm>
          <a:prstGeom prst="rect">
            <a:avLst/>
          </a:prstGeom>
          <a:solidFill>
            <a:srgbClr val="FFFEFA"/>
          </a:solidFill>
          <a:ln w="10160">
            <a:solidFill>
              <a:srgbClr val="BB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3703320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NDWI + MNDWI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087368"/>
            <a:ext cx="1152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96A72"/>
                </a:solidFill>
                <a:latin typeface="Aptos"/>
              </a:rPr>
              <a:t>water 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94392" y="3520440"/>
            <a:ext cx="1298448" cy="960120"/>
          </a:xfrm>
          <a:prstGeom prst="rect">
            <a:avLst/>
          </a:prstGeom>
          <a:solidFill>
            <a:srgbClr val="FFFEFA"/>
          </a:solidFill>
          <a:ln w="10160">
            <a:solidFill>
              <a:srgbClr val="BB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5832" y="3703320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Decision tree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67544" y="4087368"/>
            <a:ext cx="1152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96A72"/>
                </a:solidFill>
                <a:latin typeface="Aptos"/>
              </a:rPr>
              <a:t>spatial blocks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26679" y="4005072"/>
            <a:ext cx="365761" cy="0"/>
          </a:xfrm>
          <a:prstGeom prst="line">
            <a:avLst/>
          </a:prstGeom>
          <a:ln w="19050">
            <a:solidFill>
              <a:srgbClr val="5A48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55480" y="4005072"/>
            <a:ext cx="365760" cy="0"/>
          </a:xfrm>
          <a:prstGeom prst="line">
            <a:avLst/>
          </a:prstGeom>
          <a:ln w="19050">
            <a:solidFill>
              <a:srgbClr val="5A48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46520" y="4892040"/>
            <a:ext cx="4754880" cy="411480"/>
          </a:xfrm>
          <a:prstGeom prst="rect">
            <a:avLst/>
          </a:prstGeom>
          <a:solidFill>
            <a:srgbClr val="C5D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5001768"/>
            <a:ext cx="4297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D1E2A"/>
                </a:solidFill>
                <a:latin typeface="Aptos"/>
              </a:rPr>
              <a:t>Lagos-area study   /   generated demo preview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6007608"/>
            <a:ext cx="10561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96A72"/>
                </a:solidFill>
                <a:latin typeface="Aptos"/>
              </a:rPr>
              <a:t>Generated demo data checks the pipeline only. Accuracy on real imagery still needs independent reference checks.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446520"/>
            <a:ext cx="11064240" cy="0"/>
          </a:xfrm>
          <a:prstGeom prst="line">
            <a:avLst/>
          </a:prstGeom>
          <a:ln w="8255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85216" y="6510528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Iyinoluwa Don-Taiwo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6510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9768"/>
            <a:ext cx="62179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5A48EF"/>
                </a:solidFill>
                <a:latin typeface="Aptos"/>
              </a:rPr>
              <a:t>07   APPLICATION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88136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D1E2A"/>
                </a:solidFill>
                <a:latin typeface="Aptos Display"/>
              </a:rPr>
              <a:t>Employee records, attendance and payroll in one PHP app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3504" y="2148840"/>
            <a:ext cx="10991088" cy="0"/>
          </a:xfrm>
          <a:prstGeom prst="line">
            <a:avLst/>
          </a:prstGeom>
          <a:ln w="10160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21792" y="2487168"/>
            <a:ext cx="50292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1424A"/>
                </a:solidFill>
                <a:latin typeface="Aptos"/>
              </a:rPr>
              <a:t>Shebamiles EMS covers employee records, departments, attendance, leave, payroll and performance reviews. Each account has an admin, manager or employee role.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2336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48EF"/>
                </a:solidFill>
                <a:latin typeface="Aptos"/>
              </a:rPr>
              <a:t>Security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407408"/>
            <a:ext cx="49377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D1E2A"/>
                </a:solidFill>
                <a:latin typeface="Aptos"/>
              </a:rPr>
              <a:t>Prepared SQL statements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D1E2A"/>
                </a:solidFill>
                <a:latin typeface="Aptos"/>
              </a:rPr>
              <a:t>Password hashing and CSRF checks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D1E2A"/>
                </a:solidFill>
                <a:latin typeface="Aptos"/>
              </a:rPr>
              <a:t>First-admin setup through a CLI command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2514600"/>
            <a:ext cx="5074920" cy="3200400"/>
          </a:xfrm>
          <a:prstGeom prst="rect">
            <a:avLst/>
          </a:prstGeom>
          <a:solidFill>
            <a:srgbClr val="EBE4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81635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96A72"/>
                </a:solidFill>
                <a:latin typeface="Aptos"/>
              </a:rPr>
              <a:t>ROLE-BASED ACCESS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4848" y="3429000"/>
            <a:ext cx="1207008" cy="676656"/>
          </a:xfrm>
          <a:prstGeom prst="rect">
            <a:avLst/>
          </a:prstGeom>
          <a:solidFill>
            <a:srgbClr val="FFFEFA"/>
          </a:solidFill>
          <a:ln w="10160">
            <a:solidFill>
              <a:srgbClr val="C9B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365760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Admin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0456" y="3429000"/>
            <a:ext cx="1207008" cy="676656"/>
          </a:xfrm>
          <a:prstGeom prst="rect">
            <a:avLst/>
          </a:prstGeom>
          <a:solidFill>
            <a:srgbClr val="FFFEFA"/>
          </a:solidFill>
          <a:ln w="10160">
            <a:solidFill>
              <a:srgbClr val="C9B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608" y="365760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Manager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56064" y="3429000"/>
            <a:ext cx="1207008" cy="676656"/>
          </a:xfrm>
          <a:prstGeom prst="rect">
            <a:avLst/>
          </a:prstGeom>
          <a:solidFill>
            <a:srgbClr val="FFFEFA"/>
          </a:solidFill>
          <a:ln w="10160">
            <a:solidFill>
              <a:srgbClr val="C9BF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9216" y="3657600"/>
            <a:ext cx="10607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D1E2A"/>
                </a:solidFill>
                <a:latin typeface="Aptos"/>
              </a:rPr>
              <a:t>Employee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88352" y="4114800"/>
            <a:ext cx="0" cy="384048"/>
          </a:xfrm>
          <a:prstGeom prst="line">
            <a:avLst/>
          </a:prstGeom>
          <a:ln w="12700">
            <a:solidFill>
              <a:srgbClr val="8A6F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823960" y="4114800"/>
            <a:ext cx="0" cy="384048"/>
          </a:xfrm>
          <a:prstGeom prst="line">
            <a:avLst/>
          </a:prstGeom>
          <a:ln w="12700">
            <a:solidFill>
              <a:srgbClr val="8A6F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259568" y="4114800"/>
            <a:ext cx="0" cy="384048"/>
          </a:xfrm>
          <a:prstGeom prst="line">
            <a:avLst/>
          </a:prstGeom>
          <a:ln w="12700">
            <a:solidFill>
              <a:srgbClr val="8A6F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388352" y="4498848"/>
            <a:ext cx="2871216" cy="0"/>
          </a:xfrm>
          <a:prstGeom prst="line">
            <a:avLst/>
          </a:prstGeom>
          <a:ln w="12700">
            <a:solidFill>
              <a:srgbClr val="8A6F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516368" y="4736592"/>
            <a:ext cx="2615184" cy="502920"/>
          </a:xfrm>
          <a:prstGeom prst="rect">
            <a:avLst/>
          </a:prstGeom>
          <a:solidFill>
            <a:srgbClr val="D8CC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4901184"/>
            <a:ext cx="239572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D1E2A"/>
                </a:solidFill>
                <a:latin typeface="Aptos"/>
              </a:rPr>
              <a:t>EMPLOYEE MANAGEMENT 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6007608"/>
            <a:ext cx="10561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96A72"/>
                </a:solidFill>
                <a:latin typeface="Aptos"/>
              </a:rPr>
              <a:t>PHP checks and auth tests pass. Live MySQL integration has not been run in this workspace.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6446520"/>
            <a:ext cx="11064240" cy="0"/>
          </a:xfrm>
          <a:prstGeom prst="line">
            <a:avLst/>
          </a:prstGeom>
          <a:ln w="8255">
            <a:solidFill>
              <a:srgbClr val="D9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85216" y="6510528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Iyinoluwa Don-Taiwo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35640" y="6510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96A72"/>
                </a:solidFill>
                <a:latin typeface="Aptos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E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621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9EF68"/>
                </a:solidFill>
                <a:latin typeface="Aptos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417320"/>
            <a:ext cx="6858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5F3ED"/>
                </a:solidFill>
                <a:latin typeface="Aptos Display"/>
              </a:rPr>
              <a:t>Get in touch.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70332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F3ED"/>
                </a:solidFill>
                <a:latin typeface="Aptos Display"/>
              </a:rPr>
              <a:t>Iyinoluwa Don-Taiwo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18795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7CE"/>
                </a:solidFill>
                <a:latin typeface="Aptos"/>
              </a:rPr>
              <a:t>Machine learning engineer and data scientist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4846320"/>
            <a:ext cx="5559552" cy="0"/>
          </a:xfrm>
          <a:prstGeom prst="line">
            <a:avLst/>
          </a:prstGeom>
          <a:ln w="10160">
            <a:solidFill>
              <a:srgbClr val="5051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1389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EF68"/>
                </a:solidFill>
                <a:latin typeface="Aptos"/>
              </a:rPr>
              <a:t>iyinoluwadontaiwo@gmail.com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577840"/>
            <a:ext cx="4297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5D5DA"/>
                </a:solidFill>
                <a:latin typeface="Aptos"/>
              </a:rPr>
              <a:t>github.com/IyinoluwaDon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1051560"/>
            <a:ext cx="3401568" cy="4526280"/>
          </a:xfrm>
          <a:prstGeom prst="rect">
            <a:avLst/>
          </a:prstGeom>
          <a:solidFill>
            <a:srgbClr val="282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39327" y="2788920"/>
            <a:ext cx="493776" cy="493776"/>
          </a:xfrm>
          <a:prstGeom prst="ellipse">
            <a:avLst/>
          </a:prstGeom>
          <a:solidFill>
            <a:srgbClr val="5A4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25711" y="3200400"/>
            <a:ext cx="493776" cy="493776"/>
          </a:xfrm>
          <a:prstGeom prst="ellipse">
            <a:avLst/>
          </a:prstGeom>
          <a:solidFill>
            <a:srgbClr val="C9E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912096" y="2788920"/>
            <a:ext cx="493776" cy="493776"/>
          </a:xfrm>
          <a:prstGeom prst="ellipse">
            <a:avLst/>
          </a:prstGeom>
          <a:solidFill>
            <a:srgbClr val="ED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4251960"/>
            <a:ext cx="2697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5F3ED"/>
                </a:solidFill>
                <a:latin typeface="Aptos"/>
              </a:rPr>
              <a:t>Code, demos and project notes are linked from the portfolio.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5138928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6C7CE"/>
                </a:solidFill>
                <a:latin typeface="Aptos"/>
              </a:rPr>
              <a:t>iyinoluwa-don-taiwo.vercel.app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" y="6446520"/>
            <a:ext cx="11064240" cy="0"/>
          </a:xfrm>
          <a:prstGeom prst="line">
            <a:avLst/>
          </a:prstGeom>
          <a:ln w="8255">
            <a:solidFill>
              <a:srgbClr val="4748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85216" y="6510528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9BAC1"/>
                </a:solidFill>
                <a:latin typeface="Aptos"/>
              </a:rPr>
              <a:t>Selected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35640" y="6510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9BAC1"/>
                </a:solidFill>
                <a:latin typeface="Aptos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Iyinoluwa Don-Taiwo | Selected Work</dc:title>
  <dc:subject>Machine learning, data science and application projects</dc:subject>
  <dc:creator>Iyinoluwa Don-Taiwo</dc:creator>
  <cp:keywords>machine learning, data science, geospatial, portfolio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