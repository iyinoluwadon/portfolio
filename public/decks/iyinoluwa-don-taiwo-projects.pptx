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IyinoluwaDon/acl-tear-detection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IyinoluwaDon/ecommerce-listing-consistency-detector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IyinoluwaDon/Omo-Forest-Deforestation-Forecasting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IyinoluwaDon/C10-team-Ethopie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IyinoluwaDon/Water-body-detection--Sentinel-2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IyinoluwaDon/Shebamiles-EM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IyinoluwaDon/bank_churn_analysi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IyinoluwaDon/HR-Data-Analysis-with-SQ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252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1645920"/>
            <a:ext cx="3749039" cy="3749039"/>
          </a:xfrm>
          <a:prstGeom prst="ellipse">
            <a:avLst/>
          </a:prstGeom>
          <a:noFill/>
          <a:ln w="12700">
            <a:solidFill>
              <a:srgbClr val="41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2148840"/>
            <a:ext cx="2743200" cy="2743200"/>
          </a:xfrm>
          <a:prstGeom prst="ellipse">
            <a:avLst/>
          </a:prstGeom>
          <a:noFill/>
          <a:ln w="12700">
            <a:solidFill>
              <a:srgbClr val="62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35440" y="2651760"/>
            <a:ext cx="1737360" cy="1737360"/>
          </a:xfrm>
          <a:prstGeom prst="ellipse">
            <a:avLst/>
          </a:prstGeom>
          <a:noFill/>
          <a:ln w="19050">
            <a:solidFill>
              <a:srgbClr val="78E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30968" y="3337560"/>
            <a:ext cx="109728" cy="1005840"/>
          </a:xfrm>
          <a:prstGeom prst="rect">
            <a:avLst/>
          </a:prstGeom>
          <a:solidFill>
            <a:srgbClr val="FF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41280" y="2843784"/>
            <a:ext cx="109728" cy="1499616"/>
          </a:xfrm>
          <a:prstGeom prst="rect">
            <a:avLst/>
          </a:prstGeom>
          <a:solidFill>
            <a:srgbClr val="78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51592" y="3602736"/>
            <a:ext cx="109728" cy="740664"/>
          </a:xfrm>
          <a:prstGeom prst="rect">
            <a:avLst/>
          </a:prstGeom>
          <a:solidFill>
            <a:srgbClr val="EE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5943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8E5D0"/>
                </a:solidFill>
                <a:latin typeface="Aptos"/>
              </a:rPr>
              <a:t>SELECTED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704088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1EEE7"/>
                </a:solidFill>
                <a:latin typeface="Georgia"/>
              </a:rPr>
              <a:t>Iyinoluwa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1EEE7"/>
                </a:solidFill>
                <a:latin typeface="Georgia"/>
              </a:rPr>
              <a:t>Don-Taiwo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931920"/>
            <a:ext cx="6217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D5D5DA"/>
                </a:solidFill>
                <a:latin typeface="Aptos"/>
              </a:rPr>
              <a:t>Machine learning engineer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D5D5DA"/>
                </a:solidFill>
                <a:latin typeface="Aptos"/>
              </a:rPr>
              <a:t>and data scientist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5010912"/>
            <a:ext cx="5605272" cy="0"/>
          </a:xfrm>
          <a:prstGeom prst="line">
            <a:avLst/>
          </a:prstGeom>
          <a:ln w="12700">
            <a:solidFill>
              <a:srgbClr val="5051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5257800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5D5DA"/>
                </a:solidFill>
                <a:latin typeface="Aptos"/>
              </a:rPr>
              <a:t>Projects with their data, results and limits.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053328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9BAC1"/>
                </a:solidFill>
                <a:latin typeface="Aptos"/>
              </a:rPr>
              <a:t>PROJECT DECK   /  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035040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5D5DA"/>
                </a:solidFill>
                <a:latin typeface="Aptos"/>
              </a:rPr>
              <a:t>MACHINE LEARNING    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9768"/>
            <a:ext cx="62179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765D"/>
                </a:solidFill>
                <a:latin typeface="Aptos"/>
              </a:rPr>
              <a:t>02   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88136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01114"/>
                </a:solidFill>
                <a:latin typeface="Georgia"/>
              </a:rPr>
              <a:t>Classifying an ACL tear from a full MRI volume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2148840"/>
            <a:ext cx="10991088" cy="0"/>
          </a:xfrm>
          <a:prstGeom prst="line">
            <a:avLst/>
          </a:prstGeom>
          <a:ln w="10160">
            <a:solidFill>
              <a:srgbClr val="373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2468880"/>
            <a:ext cx="5257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1424A"/>
                </a:solidFill>
                <a:latin typeface="Aptos"/>
              </a:rPr>
              <a:t>A ResNet18 transfer-learning model reads sagittal knee MRI slices. The Streamlit demo accepts NumPy volumes, with optional DICOM and NIfTI readers.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840480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FF765D"/>
                </a:solidFill>
                <a:latin typeface="Aptos Display"/>
              </a:rPr>
              <a:t>0.9719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5902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5858B"/>
                </a:solidFill>
                <a:latin typeface="Aptos"/>
              </a:rPr>
              <a:t>reported AUC-ROC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9834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114"/>
                </a:solidFill>
                <a:latin typeface="Aptos"/>
              </a:rPr>
              <a:t>120-exam validation set   /   Stanford MRNet: 1,370 exams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39496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u="sng">
                <a:solidFill>
                  <a:srgbClr val="FF765D"/>
                </a:solidFill>
                <a:latin typeface="Aptos"/>
                <a:hlinkClick r:id="rId2"/>
              </a:rPr>
              <a:t>Repository: github.com/IyinoluwaDon/acl-tear-detection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2487168"/>
            <a:ext cx="5074920" cy="3401568"/>
          </a:xfrm>
          <a:prstGeom prst="rect">
            <a:avLst/>
          </a:prstGeom>
          <a:solidFill>
            <a:srgbClr val="24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48272" y="2724912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CFD0D7"/>
                </a:solidFill>
                <a:latin typeface="Aptos"/>
              </a:rPr>
              <a:t>SAGITTAL MRI SLICES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3264408"/>
            <a:ext cx="868680" cy="1929384"/>
          </a:xfrm>
          <a:prstGeom prst="rect">
            <a:avLst/>
          </a:prstGeom>
          <a:solidFill>
            <a:srgbClr val="41434D"/>
          </a:solidFill>
          <a:ln w="10160">
            <a:solidFill>
              <a:srgbClr val="7779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68312" y="3630168"/>
            <a:ext cx="530352" cy="1225296"/>
          </a:xfrm>
          <a:prstGeom prst="ellipse">
            <a:avLst/>
          </a:prstGeom>
          <a:solidFill>
            <a:srgbClr val="969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87183" y="3886200"/>
            <a:ext cx="246888" cy="658368"/>
          </a:xfrm>
          <a:prstGeom prst="ellipse">
            <a:avLst/>
          </a:prstGeom>
          <a:solidFill>
            <a:srgbClr val="4B4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1856" y="3154680"/>
            <a:ext cx="868680" cy="2148840"/>
          </a:xfrm>
          <a:prstGeom prst="rect">
            <a:avLst/>
          </a:prstGeom>
          <a:solidFill>
            <a:srgbClr val="575963"/>
          </a:solidFill>
          <a:ln w="10160">
            <a:solidFill>
              <a:srgbClr val="7779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56448" y="3520440"/>
            <a:ext cx="530352" cy="1371600"/>
          </a:xfrm>
          <a:prstGeom prst="ellipse">
            <a:avLst/>
          </a:prstGeom>
          <a:solidFill>
            <a:srgbClr val="C2B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75320" y="3886200"/>
            <a:ext cx="246888" cy="658368"/>
          </a:xfrm>
          <a:prstGeom prst="ellipse">
            <a:avLst/>
          </a:prstGeom>
          <a:solidFill>
            <a:srgbClr val="4B4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79992" y="3264408"/>
            <a:ext cx="868680" cy="1929384"/>
          </a:xfrm>
          <a:prstGeom prst="rect">
            <a:avLst/>
          </a:prstGeom>
          <a:solidFill>
            <a:srgbClr val="373942"/>
          </a:solidFill>
          <a:ln w="10160">
            <a:solidFill>
              <a:srgbClr val="7779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44584" y="3630168"/>
            <a:ext cx="530352" cy="1225296"/>
          </a:xfrm>
          <a:prstGeom prst="ellipse">
            <a:avLst/>
          </a:prstGeom>
          <a:solidFill>
            <a:srgbClr val="858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63456" y="3886200"/>
            <a:ext cx="246888" cy="658368"/>
          </a:xfrm>
          <a:prstGeom prst="ellipse">
            <a:avLst/>
          </a:prstGeom>
          <a:solidFill>
            <a:srgbClr val="4B4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55480" y="3886200"/>
            <a:ext cx="1508760" cy="566928"/>
          </a:xfrm>
          <a:prstGeom prst="rect">
            <a:avLst/>
          </a:prstGeom>
          <a:solidFill>
            <a:srgbClr val="FF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6648" y="406908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8F6F0"/>
                </a:solidFill>
                <a:latin typeface="Aptos"/>
              </a:rPr>
              <a:t>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007608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5858B"/>
                </a:solidFill>
                <a:latin typeface="Aptos"/>
              </a:rPr>
              <a:t>Schematic only. Research prototype, not a diagnostic tool. The reported result has not been independently reproduced here.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446520"/>
            <a:ext cx="11064240" cy="0"/>
          </a:xfrm>
          <a:prstGeom prst="line">
            <a:avLst/>
          </a:prstGeom>
          <a:ln w="8255">
            <a:solidFill>
              <a:srgbClr val="373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85216" y="651052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5858B"/>
                </a:solidFill>
                <a:latin typeface="Aptos"/>
              </a:rPr>
              <a:t>Iyinoluwa Don-Taiwo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6510528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5858B"/>
                </a:solidFill>
                <a:latin typeface="Aptos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9768"/>
            <a:ext cx="62179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765D"/>
                </a:solidFill>
                <a:latin typeface="Aptos"/>
              </a:rPr>
              <a:t>03   MULTIMODAL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88136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01114"/>
                </a:solidFill>
                <a:latin typeface="Georgia"/>
              </a:rPr>
              <a:t>Does the product photo match its description?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2148840"/>
            <a:ext cx="10991088" cy="0"/>
          </a:xfrm>
          <a:prstGeom prst="line">
            <a:avLst/>
          </a:prstGeom>
          <a:ln w="10160">
            <a:solidFill>
              <a:srgbClr val="373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2468880"/>
            <a:ext cx="52120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24A"/>
                </a:solidFill>
                <a:latin typeface="Aptos"/>
              </a:rPr>
              <a:t>I used downloaded Rakuten France listings to compare text-only, image-only and fused models. The task pairs real listings with deliberately swapped images to create mismatch examples.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977639"/>
            <a:ext cx="24688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765D"/>
                </a:solidFill>
                <a:latin typeface="Aptos Display"/>
              </a:rPr>
              <a:t>20,000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61772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5858B"/>
                </a:solidFill>
                <a:latin typeface="Aptos"/>
              </a:rPr>
              <a:t>product listings in the subset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5848" y="3977639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01114"/>
                </a:solidFill>
                <a:latin typeface="Aptos Display"/>
              </a:rP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2424" y="461772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5858B"/>
                </a:solidFill>
                <a:latin typeface="Aptos"/>
              </a:rPr>
              <a:t>images swapped for proxy labels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5367528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 i="0" u="sng">
                <a:solidFill>
                  <a:srgbClr val="FF765D"/>
                </a:solidFill>
                <a:latin typeface="Aptos"/>
                <a:hlinkClick r:id="rId2"/>
              </a:rPr>
              <a:t>Repository: github.com/IyinoluwaDon/ecommerce-listing-consistency-detector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19088" y="2468880"/>
            <a:ext cx="5084064" cy="3456432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278892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5858B"/>
                </a:solidFill>
                <a:latin typeface="Aptos"/>
              </a:rPr>
              <a:t>F1 SCORE  /  HIGHER IS BETTER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333756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114"/>
                </a:solidFill>
                <a:latin typeface="Aptos"/>
              </a:rPr>
              <a:t>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3355848"/>
            <a:ext cx="2423160" cy="219456"/>
          </a:xfrm>
          <a:prstGeom prst="rect">
            <a:avLst/>
          </a:prstGeom>
          <a:solidFill>
            <a:srgbClr val="D9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3355848"/>
            <a:ext cx="1038497" cy="219456"/>
          </a:xfrm>
          <a:prstGeom prst="rect">
            <a:avLst/>
          </a:prstGeom>
          <a:solidFill>
            <a:srgbClr val="ACA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52176" y="3319272"/>
            <a:ext cx="5029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1114"/>
                </a:solidFill>
                <a:latin typeface="Aptos"/>
              </a:rPr>
              <a:t>0.30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404164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114"/>
                </a:solidFill>
                <a:latin typeface="Aptos"/>
              </a:rPr>
              <a:t>Image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4059935"/>
            <a:ext cx="2423160" cy="219456"/>
          </a:xfrm>
          <a:prstGeom prst="rect">
            <a:avLst/>
          </a:prstGeom>
          <a:solidFill>
            <a:srgbClr val="D9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4059935"/>
            <a:ext cx="865414" cy="219456"/>
          </a:xfrm>
          <a:prstGeom prst="rect">
            <a:avLst/>
          </a:prstGeom>
          <a:solidFill>
            <a:srgbClr val="868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52176" y="4023360"/>
            <a:ext cx="5029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1114"/>
                </a:solidFill>
                <a:latin typeface="Aptos"/>
              </a:rPr>
              <a:t>0.25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474573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114"/>
                </a:solidFill>
                <a:latin typeface="Aptos"/>
              </a:rPr>
              <a:t>Fused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4764023"/>
            <a:ext cx="2423160" cy="219456"/>
          </a:xfrm>
          <a:prstGeom prst="rect">
            <a:avLst/>
          </a:prstGeom>
          <a:solidFill>
            <a:srgbClr val="D9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9560" y="4764023"/>
            <a:ext cx="2180844" cy="219456"/>
          </a:xfrm>
          <a:prstGeom prst="rect">
            <a:avLst/>
          </a:prstGeom>
          <a:solidFill>
            <a:srgbClr val="FF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52176" y="4727448"/>
            <a:ext cx="5029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1114"/>
                </a:solidFill>
                <a:latin typeface="Aptos"/>
              </a:rPr>
              <a:t>0.63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007608"/>
            <a:ext cx="10561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5858B"/>
                </a:solidFill>
                <a:latin typeface="Aptos"/>
              </a:rPr>
              <a:t>The mismatch label is a proxy signal, not a general moderation or policy decision.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6928" y="6446520"/>
            <a:ext cx="11064240" cy="0"/>
          </a:xfrm>
          <a:prstGeom prst="line">
            <a:avLst/>
          </a:prstGeom>
          <a:ln w="8255">
            <a:solidFill>
              <a:srgbClr val="373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85216" y="651052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5858B"/>
                </a:solidFill>
                <a:latin typeface="Aptos"/>
              </a:rPr>
              <a:t>Iyinoluwa Don-Taiwo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10528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5858B"/>
                </a:solidFill>
                <a:latin typeface="Aptos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3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9768"/>
            <a:ext cx="62179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8E5D0"/>
                </a:solidFill>
                <a:latin typeface="Aptos"/>
              </a:rPr>
              <a:t>04   GEOSPATIAL DATA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88136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1EEE7"/>
                </a:solidFill>
                <a:latin typeface="Georgia"/>
              </a:rPr>
              <a:t>Seasonal inputs lowered forecast error on the holdout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2148840"/>
            <a:ext cx="10991088" cy="0"/>
          </a:xfrm>
          <a:prstGeom prst="line">
            <a:avLst/>
          </a:prstGeom>
          <a:ln w="10160">
            <a:solidFill>
              <a:srgbClr val="4748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2487168"/>
            <a:ext cx="48920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EEE7"/>
                </a:solidFill>
                <a:latin typeface="Aptos"/>
              </a:rPr>
              <a:t>The research notebook uses Sentinel-2 NDVI features for Omo Forest Reserve and compares an LSTM with seasonal features against an NDVI-only baseline.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968496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8E5D0"/>
                </a:solidFill>
                <a:latin typeface="Aptos"/>
              </a:rPr>
              <a:t>MODEL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315968"/>
            <a:ext cx="4800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7D8D8"/>
                </a:solidFill>
                <a:latin typeface="Aptos"/>
              </a:rPr>
              <a:t>The hosted dashboard uses illustrative values. The notebook contains the model and reported evaluation.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193792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 i="0" u="sng">
                <a:solidFill>
                  <a:srgbClr val="FF765D"/>
                </a:solidFill>
                <a:latin typeface="Aptos"/>
                <a:hlinkClick r:id="rId2"/>
              </a:rPr>
              <a:t>Repository: github.com/IyinoluwaDon/Omo-Forest-Deforestation-Forecasting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2523744"/>
            <a:ext cx="5440680" cy="3090672"/>
          </a:xfrm>
          <a:prstGeom prst="rect">
            <a:avLst/>
          </a:prstGeom>
          <a:solidFill>
            <a:srgbClr val="F5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2798064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5858B"/>
                </a:solidFill>
                <a:latin typeface="Aptos"/>
              </a:rPr>
              <a:t>ERROR COMPARISON  /  LOWER IS BETTER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32644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114"/>
                </a:solidFill>
                <a:latin typeface="Aptos"/>
              </a:rPr>
              <a:t>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26440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5858B"/>
                </a:solidFill>
                <a:latin typeface="Aptos"/>
              </a:rPr>
              <a:t>NDVI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3310128"/>
            <a:ext cx="2084831" cy="182880"/>
          </a:xfrm>
          <a:prstGeom prst="rect">
            <a:avLst/>
          </a:prstGeom>
          <a:solidFill>
            <a:srgbClr val="DE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3310128"/>
            <a:ext cx="1521927" cy="182880"/>
          </a:xfrm>
          <a:prstGeom prst="rect">
            <a:avLst/>
          </a:prstGeom>
          <a:solidFill>
            <a:srgbClr val="9B9A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97312" y="324612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1114"/>
                </a:solidFill>
                <a:latin typeface="Aptos"/>
              </a:rPr>
              <a:t>0.073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70332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114"/>
                </a:solidFill>
                <a:latin typeface="Aptos"/>
              </a:rPr>
              <a:t>Seasonal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3749039"/>
            <a:ext cx="2084831" cy="182880"/>
          </a:xfrm>
          <a:prstGeom prst="rect">
            <a:avLst/>
          </a:prstGeom>
          <a:solidFill>
            <a:srgbClr val="DE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3749039"/>
            <a:ext cx="1375989" cy="182880"/>
          </a:xfrm>
          <a:prstGeom prst="rect">
            <a:avLst/>
          </a:prstGeom>
          <a:solidFill>
            <a:srgbClr val="FF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97312" y="3685032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1114"/>
                </a:solidFill>
                <a:latin typeface="Aptos"/>
              </a:rPr>
              <a:t>0.066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434840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114"/>
                </a:solidFill>
                <a:latin typeface="Aptos"/>
              </a:rPr>
              <a:t>RMSE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4348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5858B"/>
                </a:solidFill>
                <a:latin typeface="Aptos"/>
              </a:rPr>
              <a:t>NDVI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4480560"/>
            <a:ext cx="2084831" cy="182880"/>
          </a:xfrm>
          <a:prstGeom prst="rect">
            <a:avLst/>
          </a:prstGeom>
          <a:solidFill>
            <a:srgbClr val="DE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20" y="4480560"/>
            <a:ext cx="1598371" cy="182880"/>
          </a:xfrm>
          <a:prstGeom prst="rect">
            <a:avLst/>
          </a:prstGeom>
          <a:solidFill>
            <a:srgbClr val="9B9A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97312" y="4416552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1114"/>
                </a:solidFill>
                <a:latin typeface="Aptos"/>
              </a:rPr>
              <a:t>0.092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86460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114"/>
                </a:solidFill>
                <a:latin typeface="Aptos"/>
              </a:rPr>
              <a:t>Seasonal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4910328"/>
            <a:ext cx="2084831" cy="182880"/>
          </a:xfrm>
          <a:prstGeom prst="rect">
            <a:avLst/>
          </a:prstGeom>
          <a:solidFill>
            <a:srgbClr val="DE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4910328"/>
            <a:ext cx="1389887" cy="182880"/>
          </a:xfrm>
          <a:prstGeom prst="rect">
            <a:avLst/>
          </a:prstGeom>
          <a:solidFill>
            <a:srgbClr val="FF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97312" y="484632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1114"/>
                </a:solidFill>
                <a:latin typeface="Aptos"/>
              </a:rPr>
              <a:t>0.080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007608"/>
            <a:ext cx="10561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D7D8D8"/>
                </a:solidFill>
                <a:latin typeface="Aptos"/>
              </a:rPr>
              <a:t>Small holdout with interpolated months. NDVI change alone does not establish deforestation.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6446520"/>
            <a:ext cx="11064240" cy="0"/>
          </a:xfrm>
          <a:prstGeom prst="line">
            <a:avLst/>
          </a:prstGeom>
          <a:ln w="8255">
            <a:solidFill>
              <a:srgbClr val="4748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6" y="651052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9BAC1"/>
                </a:solidFill>
                <a:latin typeface="Aptos"/>
              </a:rPr>
              <a:t>Iyinoluwa Don-Taiwo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5640" y="6510528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9BAC1"/>
                </a:solidFill>
                <a:latin typeface="Aptos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9768"/>
            <a:ext cx="62179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765D"/>
                </a:solidFill>
                <a:latin typeface="Aptos"/>
              </a:rPr>
              <a:t>05   LANGUAGE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88136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01114"/>
                </a:solidFill>
                <a:latin typeface="Georgia"/>
              </a:rPr>
              <a:t>Fine-tuning Gemma 2 for an African folktale challenge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2148840"/>
            <a:ext cx="10991088" cy="0"/>
          </a:xfrm>
          <a:prstGeom prst="line">
            <a:avLst/>
          </a:prstGeom>
          <a:ln w="10160">
            <a:solidFill>
              <a:srgbClr val="373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2468880"/>
            <a:ext cx="5074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24A"/>
                </a:solidFill>
                <a:latin typeface="Aptos"/>
              </a:rPr>
              <a:t>I led Team Ethopie, a nine-person group, through the TRI AI Saturdays Cohort 10 capstone. I co-developed the Gemma 2 2B LoRA notebook with one teammate.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88620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765D"/>
                </a:solidFill>
                <a:latin typeface="Aptos Display"/>
              </a:rPr>
              <a:t>3rd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59943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5858B"/>
                </a:solidFill>
                <a:latin typeface="Aptos"/>
              </a:rPr>
              <a:t>place in the cohort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05663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01114"/>
                </a:solidFill>
                <a:latin typeface="Aptos"/>
              </a:rPr>
              <a:t>24 synthetic folktales   /   38 prompt-story pairs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468112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u="sng">
                <a:solidFill>
                  <a:srgbClr val="FF765D"/>
                </a:solidFill>
                <a:latin typeface="Aptos"/>
                <a:hlinkClick r:id="rId2"/>
              </a:rPr>
              <a:t>Repository: github.com/IyinoluwaDon/C10-team-Ethopie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28232" y="2505456"/>
            <a:ext cx="5074920" cy="3364992"/>
          </a:xfrm>
          <a:prstGeom prst="rect">
            <a:avLst/>
          </a:prstGeom>
          <a:solidFill>
            <a:srgbClr val="EFE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48272" y="2834640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5858B"/>
                </a:solidFill>
                <a:latin typeface="Aptos"/>
              </a:rPr>
              <a:t>MEAN LEVENSHTEIN 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347472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01114"/>
                </a:solidFill>
                <a:latin typeface="Aptos"/>
              </a:rPr>
              <a:t>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91856" y="3493008"/>
            <a:ext cx="2331720" cy="228600"/>
          </a:xfrm>
          <a:prstGeom prst="rect">
            <a:avLst/>
          </a:prstGeom>
          <a:solidFill>
            <a:srgbClr val="C7B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33888" y="34472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114"/>
                </a:solidFill>
                <a:latin typeface="Aptos"/>
              </a:rPr>
              <a:t>211.00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4187952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1114"/>
                </a:solidFill>
                <a:latin typeface="Aptos"/>
              </a:rPr>
              <a:t>Fine-tuned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1856" y="4206240"/>
            <a:ext cx="2331720" cy="228600"/>
          </a:xfrm>
          <a:prstGeom prst="rect">
            <a:avLst/>
          </a:prstGeom>
          <a:solidFill>
            <a:srgbClr val="D7D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1856" y="4206240"/>
            <a:ext cx="1891566" cy="228600"/>
          </a:xfrm>
          <a:prstGeom prst="rect">
            <a:avLst/>
          </a:prstGeom>
          <a:solidFill>
            <a:srgbClr val="FF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33888" y="4160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114"/>
                </a:solidFill>
                <a:latin typeface="Aptos"/>
              </a:rPr>
              <a:t>171.17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4846320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5858B"/>
                </a:solidFill>
                <a:latin typeface="Aptos"/>
              </a:rPr>
              <a:t>Lower is better on this challenge metric.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007608"/>
            <a:ext cx="10561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5858B"/>
                </a:solidFill>
                <a:latin typeface="Aptos"/>
              </a:rPr>
              <a:t>Synthetic benchmark. The score does not assess story quality or cultural fidelity.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446520"/>
            <a:ext cx="11064240" cy="0"/>
          </a:xfrm>
          <a:prstGeom prst="line">
            <a:avLst/>
          </a:prstGeom>
          <a:ln w="8255">
            <a:solidFill>
              <a:srgbClr val="373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85216" y="651052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5858B"/>
                </a:solidFill>
                <a:latin typeface="Aptos"/>
              </a:rPr>
              <a:t>Iyinoluwa Don-Taiwo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510528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5858B"/>
                </a:solidFill>
                <a:latin typeface="Aptos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9768"/>
            <a:ext cx="62179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765D"/>
                </a:solidFill>
                <a:latin typeface="Aptos"/>
              </a:rPr>
              <a:t>06   GEOSPATIAL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88136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01114"/>
                </a:solidFill>
                <a:latin typeface="Georgia"/>
              </a:rPr>
              <a:t>Mapping surface water with Sentinel-2 indices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2148840"/>
            <a:ext cx="10991088" cy="0"/>
          </a:xfrm>
          <a:prstGeom prst="line">
            <a:avLst/>
          </a:prstGeom>
          <a:ln w="10160">
            <a:solidFill>
              <a:srgbClr val="373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2487168"/>
            <a:ext cx="4983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24A"/>
                </a:solidFill>
                <a:latin typeface="Aptos"/>
              </a:rPr>
              <a:t>The Python project derives two water indices from Sentinel-2 bands, then fits a decision tree against historical surface-water labels. Spatial blocks separate evaluation areas.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97763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765D"/>
                </a:solidFill>
                <a:latin typeface="Aptos"/>
              </a:rPr>
              <a:t>Included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370832"/>
            <a:ext cx="4297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01114"/>
                </a:solidFill>
                <a:latin typeface="Aptos"/>
              </a:rPr>
              <a:t>Threshold baselines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01114"/>
                </a:solidFill>
                <a:latin typeface="Aptos"/>
              </a:rPr>
              <a:t>Documented map classes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01114"/>
                </a:solidFill>
                <a:latin typeface="Aptos"/>
              </a:rPr>
              <a:t>Optional Earth Engine export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513832"/>
            <a:ext cx="5166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 i="0" u="sng">
                <a:solidFill>
                  <a:srgbClr val="FF765D"/>
                </a:solidFill>
                <a:latin typeface="Aptos"/>
                <a:hlinkClick r:id="rId2"/>
              </a:rPr>
              <a:t>Repository: github.com/IyinoluwaDon/Water-body-detection--Sentinel-2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514600"/>
            <a:ext cx="5376672" cy="3154680"/>
          </a:xfrm>
          <a:prstGeom prst="rect">
            <a:avLst/>
          </a:prstGeom>
          <a:solidFill>
            <a:srgbClr val="D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2788920"/>
            <a:ext cx="4434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5858B"/>
                </a:solidFill>
                <a:latin typeface="Aptos"/>
              </a:rPr>
              <a:t>FROM SPECTRAL BANDS TO A WATER 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19088" y="3520440"/>
            <a:ext cx="1298448" cy="960120"/>
          </a:xfrm>
          <a:prstGeom prst="rect">
            <a:avLst/>
          </a:prstGeom>
          <a:solidFill>
            <a:srgbClr val="F8F6F0"/>
          </a:solidFill>
          <a:ln w="10160">
            <a:solidFill>
              <a:srgbClr val="BB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7" y="3703320"/>
            <a:ext cx="1115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1114"/>
                </a:solidFill>
                <a:latin typeface="Aptos"/>
              </a:rPr>
              <a:t>Sentinel-2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087368"/>
            <a:ext cx="1152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5858B"/>
                </a:solidFill>
                <a:latin typeface="Aptos"/>
              </a:rPr>
              <a:t>Green / NIR / SWIR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6448" y="3520440"/>
            <a:ext cx="1298448" cy="960120"/>
          </a:xfrm>
          <a:prstGeom prst="rect">
            <a:avLst/>
          </a:prstGeom>
          <a:solidFill>
            <a:srgbClr val="F8F6F0"/>
          </a:solidFill>
          <a:ln w="10160">
            <a:solidFill>
              <a:srgbClr val="BB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3703320"/>
            <a:ext cx="1115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1114"/>
                </a:solidFill>
                <a:latin typeface="Aptos"/>
              </a:rPr>
              <a:t>NDWI + MNDWI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087368"/>
            <a:ext cx="1152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5858B"/>
                </a:solidFill>
                <a:latin typeface="Aptos"/>
              </a:rPr>
              <a:t>water features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94392" y="3520440"/>
            <a:ext cx="1298448" cy="960120"/>
          </a:xfrm>
          <a:prstGeom prst="rect">
            <a:avLst/>
          </a:prstGeom>
          <a:solidFill>
            <a:srgbClr val="F8F6F0"/>
          </a:solidFill>
          <a:ln w="10160">
            <a:solidFill>
              <a:srgbClr val="BB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85832" y="3703320"/>
            <a:ext cx="1115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1114"/>
                </a:solidFill>
                <a:latin typeface="Aptos"/>
              </a:rPr>
              <a:t>Decision tree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67544" y="4087368"/>
            <a:ext cx="1152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5858B"/>
                </a:solidFill>
                <a:latin typeface="Aptos"/>
              </a:rPr>
              <a:t>spatial blocks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26679" y="4005072"/>
            <a:ext cx="365761" cy="0"/>
          </a:xfrm>
          <a:prstGeom prst="line">
            <a:avLst/>
          </a:prstGeom>
          <a:ln w="19050">
            <a:solidFill>
              <a:srgbClr val="FF7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555480" y="4005072"/>
            <a:ext cx="365760" cy="0"/>
          </a:xfrm>
          <a:prstGeom prst="line">
            <a:avLst/>
          </a:prstGeom>
          <a:ln w="19050">
            <a:solidFill>
              <a:srgbClr val="FF7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46520" y="4892040"/>
            <a:ext cx="4754880" cy="411480"/>
          </a:xfrm>
          <a:prstGeom prst="rect">
            <a:avLst/>
          </a:prstGeom>
          <a:solidFill>
            <a:srgbClr val="C5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5001768"/>
            <a:ext cx="4297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01114"/>
                </a:solidFill>
                <a:latin typeface="Aptos"/>
              </a:rPr>
              <a:t>Lagos-area study   /   generated demo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007608"/>
            <a:ext cx="10561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5858B"/>
                </a:solidFill>
                <a:latin typeface="Aptos"/>
              </a:rPr>
              <a:t>Generated demo data checks the pipeline only. Accuracy on real imagery still needs independent reference checks.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928" y="6446520"/>
            <a:ext cx="11064240" cy="0"/>
          </a:xfrm>
          <a:prstGeom prst="line">
            <a:avLst/>
          </a:prstGeom>
          <a:ln w="8255">
            <a:solidFill>
              <a:srgbClr val="373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5216" y="651052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5858B"/>
                </a:solidFill>
                <a:latin typeface="Aptos"/>
              </a:rPr>
              <a:t>Iyinoluwa Don-Taiwo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10528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5858B"/>
                </a:solidFill>
                <a:latin typeface="Aptos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9768"/>
            <a:ext cx="62179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765D"/>
                </a:solidFill>
                <a:latin typeface="Aptos"/>
              </a:rPr>
              <a:t>07   APPLICATION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88136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01114"/>
                </a:solidFill>
                <a:latin typeface="Georgia"/>
              </a:rPr>
              <a:t>Employee records, attendance and payroll in one PHP app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2148840"/>
            <a:ext cx="10991088" cy="0"/>
          </a:xfrm>
          <a:prstGeom prst="line">
            <a:avLst/>
          </a:prstGeom>
          <a:ln w="10160">
            <a:solidFill>
              <a:srgbClr val="373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2487168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24A"/>
                </a:solidFill>
                <a:latin typeface="Aptos"/>
              </a:rPr>
              <a:t>Shebamiles EMS covers employee records, departments, attendance, leave, payroll and performance reviews. Each account has an admin, manager or employee role.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02336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765D"/>
                </a:solidFill>
                <a:latin typeface="Aptos"/>
              </a:rPr>
              <a:t>Security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407408"/>
            <a:ext cx="49377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01114"/>
                </a:solidFill>
                <a:latin typeface="Aptos"/>
              </a:rPr>
              <a:t>Prepared SQL statements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01114"/>
                </a:solidFill>
                <a:latin typeface="Aptos"/>
              </a:rPr>
              <a:t>Password hashing and CSRF checks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01114"/>
                </a:solidFill>
                <a:latin typeface="Aptos"/>
              </a:rPr>
              <a:t>First-admin setup through a CLI command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513832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u="sng">
                <a:solidFill>
                  <a:srgbClr val="FF765D"/>
                </a:solidFill>
                <a:latin typeface="Aptos"/>
                <a:hlinkClick r:id="rId2"/>
              </a:rPr>
              <a:t>Repository: github.com/IyinoluwaDon/Shebamiles-EMS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2514600"/>
            <a:ext cx="5074920" cy="3200400"/>
          </a:xfrm>
          <a:prstGeom prst="rect">
            <a:avLst/>
          </a:prstGeom>
          <a:solidFill>
            <a:srgbClr val="EB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81635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5858B"/>
                </a:solidFill>
                <a:latin typeface="Aptos"/>
              </a:rPr>
              <a:t>ROLE-BASED ACCESS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84848" y="3429000"/>
            <a:ext cx="1207008" cy="676656"/>
          </a:xfrm>
          <a:prstGeom prst="rect">
            <a:avLst/>
          </a:prstGeom>
          <a:solidFill>
            <a:srgbClr val="F8F6F0"/>
          </a:solidFill>
          <a:ln w="10160">
            <a:solidFill>
              <a:srgbClr val="C9B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657600"/>
            <a:ext cx="1060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1114"/>
                </a:solidFill>
                <a:latin typeface="Aptos"/>
              </a:rPr>
              <a:t>Admin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0456" y="3429000"/>
            <a:ext cx="1207008" cy="676656"/>
          </a:xfrm>
          <a:prstGeom prst="rect">
            <a:avLst/>
          </a:prstGeom>
          <a:solidFill>
            <a:srgbClr val="F8F6F0"/>
          </a:solidFill>
          <a:ln w="10160">
            <a:solidFill>
              <a:srgbClr val="C9B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3657600"/>
            <a:ext cx="1060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1114"/>
                </a:solidFill>
                <a:latin typeface="Aptos"/>
              </a:rPr>
              <a:t>Manager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56064" y="3429000"/>
            <a:ext cx="1207008" cy="676656"/>
          </a:xfrm>
          <a:prstGeom prst="rect">
            <a:avLst/>
          </a:prstGeom>
          <a:solidFill>
            <a:srgbClr val="F8F6F0"/>
          </a:solidFill>
          <a:ln w="10160">
            <a:solidFill>
              <a:srgbClr val="C9B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29216" y="3657600"/>
            <a:ext cx="1060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1114"/>
                </a:solidFill>
                <a:latin typeface="Aptos"/>
              </a:rPr>
              <a:t>Employee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88352" y="4114800"/>
            <a:ext cx="0" cy="384048"/>
          </a:xfrm>
          <a:prstGeom prst="line">
            <a:avLst/>
          </a:prstGeom>
          <a:ln w="12700">
            <a:solidFill>
              <a:srgbClr val="8A6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23960" y="4114800"/>
            <a:ext cx="0" cy="384048"/>
          </a:xfrm>
          <a:prstGeom prst="line">
            <a:avLst/>
          </a:prstGeom>
          <a:ln w="12700">
            <a:solidFill>
              <a:srgbClr val="8A6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59568" y="4114800"/>
            <a:ext cx="0" cy="384048"/>
          </a:xfrm>
          <a:prstGeom prst="line">
            <a:avLst/>
          </a:prstGeom>
          <a:ln w="12700">
            <a:solidFill>
              <a:srgbClr val="8A6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88352" y="4498848"/>
            <a:ext cx="2871216" cy="0"/>
          </a:xfrm>
          <a:prstGeom prst="line">
            <a:avLst/>
          </a:prstGeom>
          <a:ln w="12700">
            <a:solidFill>
              <a:srgbClr val="8A6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516368" y="4736592"/>
            <a:ext cx="2615184" cy="502920"/>
          </a:xfrm>
          <a:prstGeom prst="rect">
            <a:avLst/>
          </a:prstGeom>
          <a:solidFill>
            <a:srgbClr val="D8C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4901184"/>
            <a:ext cx="239572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01114"/>
                </a:solidFill>
                <a:latin typeface="Aptos"/>
              </a:rPr>
              <a:t>EMPLOYEE MANAGEMENT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007608"/>
            <a:ext cx="10561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5858B"/>
                </a:solidFill>
                <a:latin typeface="Aptos"/>
              </a:rPr>
              <a:t>PHP checks and auth tests pass. Live MySQL integration has not been run in this workspace.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446520"/>
            <a:ext cx="11064240" cy="0"/>
          </a:xfrm>
          <a:prstGeom prst="line">
            <a:avLst/>
          </a:prstGeom>
          <a:ln w="8255">
            <a:solidFill>
              <a:srgbClr val="373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85216" y="651052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5858B"/>
                </a:solidFill>
                <a:latin typeface="Aptos"/>
              </a:rPr>
              <a:t>Iyinoluwa Don-Taiwo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6510528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5858B"/>
                </a:solidFill>
                <a:latin typeface="Aptos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9768"/>
            <a:ext cx="62179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8E5D0"/>
                </a:solidFill>
                <a:latin typeface="Aptos"/>
              </a:rPr>
              <a:t>08  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88136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1EEE7"/>
                </a:solidFill>
                <a:latin typeface="Georgia"/>
              </a:rPr>
              <a:t>Checking churn comparisons in an Excel workbook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2148840"/>
            <a:ext cx="10991088" cy="0"/>
          </a:xfrm>
          <a:prstGeom prst="line">
            <a:avLst/>
          </a:prstGeom>
          <a:ln w="10160">
            <a:solidFill>
              <a:srgbClr val="4748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2487168"/>
            <a:ext cx="5074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EEE7"/>
                </a:solidFill>
                <a:latin typeface="Aptos"/>
              </a:rPr>
              <a:t>The workbook summarizes 500 customer records with PivotTables and statistical tests. I preserved the input sheet and added a verifier that checks row counts, identifiers, missing values and the reported calculations.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160520"/>
            <a:ext cx="3474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8E5D0"/>
                </a:solidFill>
                <a:latin typeface="Aptos Display"/>
              </a:rPr>
              <a:t>F = 0.9898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690872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5D5DA"/>
                </a:solidFill>
                <a:latin typeface="Aptos"/>
              </a:rPr>
              <a:t>Credit-score ANOVA   /   p = 0.3724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074920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5D5DA"/>
                </a:solidFill>
                <a:latin typeface="Aptos"/>
              </a:rPr>
              <a:t>Salary t-test   /   p = 0.42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513832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u="sng">
                <a:solidFill>
                  <a:srgbClr val="FF765D"/>
                </a:solidFill>
                <a:latin typeface="Aptos"/>
                <a:hlinkClick r:id="rId2"/>
              </a:rPr>
              <a:t>Repository: github.com/IyinoluwaDon/bank_churn_analysis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2542032"/>
            <a:ext cx="5074920" cy="3154680"/>
          </a:xfrm>
          <a:prstGeom prst="rect">
            <a:avLst/>
          </a:prstGeom>
          <a:solidFill>
            <a:srgbClr val="282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3017520"/>
            <a:ext cx="4343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5D5DA"/>
                </a:solidFill>
                <a:latin typeface="Aptos"/>
              </a:rPr>
              <a:t>REPORTED CHURN-RATE 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65760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78E5D0"/>
                </a:solidFill>
                <a:latin typeface="Aptos Display"/>
              </a:rPr>
              <a:t>52.5–55.2%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4572000"/>
            <a:ext cx="4251960" cy="274320"/>
          </a:xfrm>
          <a:prstGeom prst="rect">
            <a:avLst/>
          </a:prstGeom>
          <a:solidFill>
            <a:srgbClr val="45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4572000"/>
            <a:ext cx="3657600" cy="274320"/>
          </a:xfrm>
          <a:prstGeom prst="rect">
            <a:avLst/>
          </a:prstGeom>
          <a:solidFill>
            <a:srgbClr val="78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6007608"/>
            <a:ext cx="10561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B9BAC1"/>
                </a:solidFill>
                <a:latin typeface="Aptos"/>
              </a:rPr>
              <a:t>Sample source and license are undocumented. Descriptive results do not establish causes or general bank-wide churn rates.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6446520"/>
            <a:ext cx="11064240" cy="0"/>
          </a:xfrm>
          <a:prstGeom prst="line">
            <a:avLst/>
          </a:prstGeom>
          <a:ln w="8255">
            <a:solidFill>
              <a:srgbClr val="4748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5216" y="651052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9BAC1"/>
                </a:solidFill>
                <a:latin typeface="Aptos"/>
              </a:rPr>
              <a:t>Iyinoluwa Don-Taiwo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6510528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9BAC1"/>
                </a:solidFill>
                <a:latin typeface="Aptos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9768"/>
            <a:ext cx="62179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765D"/>
                </a:solidFill>
                <a:latin typeface="Aptos"/>
              </a:rPr>
              <a:t>09  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88136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01114"/>
                </a:solidFill>
                <a:latin typeface="Georgia"/>
              </a:rPr>
              <a:t>Twelve read-only queries over an HR database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2148840"/>
            <a:ext cx="10991088" cy="0"/>
          </a:xfrm>
          <a:prstGeom prst="line">
            <a:avLst/>
          </a:prstGeom>
          <a:ln w="10160">
            <a:solidFill>
              <a:srgbClr val="373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2487168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1424A"/>
                </a:solidFill>
                <a:latin typeface="Aptos"/>
              </a:rPr>
              <a:t>A small SQLite analysis validates database integrity, calculates tenure relative to review dates, runs twelve named queries and exports the results as CSV and JSON.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931920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765D"/>
                </a:solidFill>
                <a:latin typeface="Aptos Display"/>
              </a:rP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55371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5858B"/>
                </a:solidFill>
                <a:latin typeface="Aptos"/>
              </a:rPr>
              <a:t>employee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3931920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01114"/>
                </a:solidFill>
                <a:latin typeface="Aptos Display"/>
              </a:rPr>
              <a:t>238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455371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5858B"/>
                </a:solidFill>
                <a:latin typeface="Aptos"/>
              </a:rPr>
              <a:t>Engineering employees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5230368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u="sng">
                <a:solidFill>
                  <a:srgbClr val="FF765D"/>
                </a:solidFill>
                <a:latin typeface="Aptos"/>
                <a:hlinkClick r:id="rId2"/>
              </a:rPr>
              <a:t>Repository: github.com/IyinoluwaDon/HR-Data-Analysis-with-SQL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2514600"/>
            <a:ext cx="5074920" cy="3182112"/>
          </a:xfrm>
          <a:prstGeom prst="rect">
            <a:avLst/>
          </a:prstGeom>
          <a:solidFill>
            <a:srgbClr val="1D3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2816352"/>
            <a:ext cx="42062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9F0DC"/>
                </a:solidFill>
                <a:latin typeface="Aptos"/>
              </a:rPr>
              <a:t>READ-ONLY QUERY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331012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5D5DA"/>
                </a:solidFill>
                <a:latin typeface="Aptos"/>
              </a:rPr>
              <a:t>INTEGRITY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310128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1EEE7"/>
                </a:solidFill>
                <a:latin typeface="Aptos"/>
              </a:rPr>
              <a:t>PASS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84848" y="3602736"/>
            <a:ext cx="4279392" cy="0"/>
          </a:xfrm>
          <a:prstGeom prst="line">
            <a:avLst/>
          </a:prstGeom>
          <a:ln w="7620">
            <a:solidFill>
              <a:srgbClr val="435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84848" y="378561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5D5DA"/>
                </a:solidFill>
                <a:latin typeface="Aptos"/>
              </a:rPr>
              <a:t>FOREIGN KEYS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785616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1EEE7"/>
                </a:solidFill>
                <a:latin typeface="Aptos"/>
              </a:rPr>
              <a:t>PASS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84848" y="4078224"/>
            <a:ext cx="4279392" cy="0"/>
          </a:xfrm>
          <a:prstGeom prst="line">
            <a:avLst/>
          </a:prstGeom>
          <a:ln w="7620">
            <a:solidFill>
              <a:srgbClr val="435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84848" y="426110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5D5DA"/>
                </a:solidFill>
                <a:latin typeface="Aptos"/>
              </a:rPr>
              <a:t>NAMED QUERIES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261104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1EEE7"/>
                </a:solidFill>
                <a:latin typeface="Aptos"/>
              </a:rPr>
              <a:t>12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84848" y="4553712"/>
            <a:ext cx="4279392" cy="0"/>
          </a:xfrm>
          <a:prstGeom prst="line">
            <a:avLst/>
          </a:prstGeom>
          <a:ln w="7620">
            <a:solidFill>
              <a:srgbClr val="435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84848" y="473659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5D5DA"/>
                </a:solidFill>
                <a:latin typeface="Aptos"/>
              </a:rPr>
              <a:t>EXPORTS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73659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1EEE7"/>
                </a:solidFill>
                <a:latin typeface="Aptos"/>
              </a:rPr>
              <a:t>CSV + JSON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84848" y="5029200"/>
            <a:ext cx="4279392" cy="0"/>
          </a:xfrm>
          <a:prstGeom prst="line">
            <a:avLst/>
          </a:prstGeom>
          <a:ln w="7620">
            <a:solidFill>
              <a:srgbClr val="435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1792" y="6007608"/>
            <a:ext cx="10561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5858B"/>
                </a:solidFill>
                <a:latin typeface="Aptos"/>
              </a:rPr>
              <a:t>Database source and field definitions are undocumented. Findings describe only the supplied sample.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6928" y="6446520"/>
            <a:ext cx="11064240" cy="0"/>
          </a:xfrm>
          <a:prstGeom prst="line">
            <a:avLst/>
          </a:prstGeom>
          <a:ln w="8255">
            <a:solidFill>
              <a:srgbClr val="373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85216" y="651052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5858B"/>
                </a:solidFill>
                <a:latin typeface="Aptos"/>
              </a:rPr>
              <a:t>Iyinoluwa Don-Taiwo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10528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5858B"/>
                </a:solidFill>
                <a:latin typeface="Aptos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62179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8E5D0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417320"/>
            <a:ext cx="6858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1EEE7"/>
                </a:solidFill>
                <a:latin typeface="Georgia"/>
              </a:rPr>
              <a:t>Get in touch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70332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1EEE7"/>
                </a:solidFill>
                <a:latin typeface="Georgia"/>
              </a:rPr>
              <a:t>Iyinoluwa Don-Taiwo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8795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7CE"/>
                </a:solidFill>
                <a:latin typeface="Aptos"/>
              </a:rPr>
              <a:t>Machine learning engineer and data scientist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4846320"/>
            <a:ext cx="5559552" cy="0"/>
          </a:xfrm>
          <a:prstGeom prst="line">
            <a:avLst/>
          </a:prstGeom>
          <a:ln w="10160">
            <a:solidFill>
              <a:srgbClr val="5051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51389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8E5D0"/>
                </a:solidFill>
                <a:latin typeface="Aptos"/>
              </a:rPr>
              <a:t>iyinoluwadontaiwo@gmail.com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577840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5D5DA"/>
                </a:solidFill>
                <a:latin typeface="Aptos"/>
              </a:rPr>
              <a:t>github.com/IyinoluwaDon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1051560"/>
            <a:ext cx="3401568" cy="4526280"/>
          </a:xfrm>
          <a:prstGeom prst="rect">
            <a:avLst/>
          </a:prstGeom>
          <a:solidFill>
            <a:srgbClr val="282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39327" y="2788920"/>
            <a:ext cx="493776" cy="493776"/>
          </a:xfrm>
          <a:prstGeom prst="ellipse">
            <a:avLst/>
          </a:prstGeom>
          <a:solidFill>
            <a:srgbClr val="FF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25711" y="3200400"/>
            <a:ext cx="493776" cy="493776"/>
          </a:xfrm>
          <a:prstGeom prst="ellipse">
            <a:avLst/>
          </a:prstGeom>
          <a:solidFill>
            <a:srgbClr val="78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12096" y="2788920"/>
            <a:ext cx="493776" cy="493776"/>
          </a:xfrm>
          <a:prstGeom prst="ellipse">
            <a:avLst/>
          </a:prstGeom>
          <a:solidFill>
            <a:srgbClr val="ED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4251960"/>
            <a:ext cx="2697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1EEE7"/>
                </a:solidFill>
                <a:latin typeface="Aptos"/>
              </a:rPr>
              <a:t>Code, demos and project notes are linked from the portfolio.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5138928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6C7CE"/>
                </a:solidFill>
                <a:latin typeface="Aptos"/>
              </a:rPr>
              <a:t>iyinoluwa-don-taiwo.vercel.app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446520"/>
            <a:ext cx="11064240" cy="0"/>
          </a:xfrm>
          <a:prstGeom prst="line">
            <a:avLst/>
          </a:prstGeom>
          <a:ln w="8255">
            <a:solidFill>
              <a:srgbClr val="4748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5216" y="651052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9BAC1"/>
                </a:solidFill>
                <a:latin typeface="Aptos"/>
              </a:rPr>
              <a:t>Selected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6510528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9BAC1"/>
                </a:solidFill>
                <a:latin typeface="Apto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Iyinoluwa Don-Taiwo | Selected Work</dc:title>
  <dc:subject>Machine learning, data science and application projects</dc:subject>
  <dc:creator>Iyinoluwa Don-Taiwo</dc:creator>
  <cp:keywords>machine learning, data science, geospatial, portfolio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